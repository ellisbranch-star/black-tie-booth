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18607" y="777240"/>
            <a:ext cx="1554480" cy="1554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tb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775" y="978408"/>
            <a:ext cx="1152144" cy="1152144"/>
          </a:xfrm>
          <a:prstGeom prst="rect">
            <a:avLst/>
          </a:prstGeom>
        </p:spPr>
      </p:pic>
      <p:sp>
        <p:nvSpPr>
          <p:cNvPr id="4" name="Diamond 3"/>
          <p:cNvSpPr/>
          <p:nvPr/>
        </p:nvSpPr>
        <p:spPr>
          <a:xfrm>
            <a:off x="6022695" y="2788920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Corporate Experiences,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C9A667"/>
                </a:solidFill>
                <a:latin typeface="Cambria"/>
              </a:rPr>
              <a:t>A Membership Built for Atlanta's Best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ATLANTA'S PREMIER EVENT EXPERIENCE COMPANY  ·  SINCE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booth_pa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685800" y="1463040"/>
            <a:ext cx="6949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C1C1C"/>
                </a:solidFill>
                <a:latin typeface="Cambria"/>
              </a:rPr>
              <a:t>A step-and-repeat backdrop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6949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C1C1C"/>
                </a:solidFill>
                <a:latin typeface="Cambria"/>
              </a:rPr>
              <a:t>isn't a company culture moment.</a:t>
            </a:r>
          </a:p>
        </p:txBody>
      </p:sp>
      <p:sp>
        <p:nvSpPr>
          <p:cNvPr id="5" name="Diamond 4"/>
          <p:cNvSpPr/>
          <p:nvPr/>
        </p:nvSpPr>
        <p:spPr>
          <a:xfrm>
            <a:off x="713232" y="3246120"/>
            <a:ext cx="128016" cy="128016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Black Tie Booth turns holiday parties, product launches, and client </a:t>
            </a:r>
            <a:r>
              <a:rPr sz="1800" b="0" i="0">
                <a:solidFill>
                  <a:srgbClr val="595959"/>
                </a:solidFill>
                <a:latin typeface="Calibri"/>
              </a:rPr>
              <a:t>events into something your team actually talks about — </a:t>
            </a:r>
            <a:r>
              <a:rPr sz="1800" b="0" i="1">
                <a:solidFill>
                  <a:srgbClr val="595959"/>
                </a:solidFill>
                <a:latin typeface="Calibri"/>
              </a:rPr>
              <a:t>long after the last photo prints.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C1C1C"/>
                </a:solidFill>
                <a:latin typeface="Cambria"/>
              </a:rPr>
              <a:t>Who We Are</a:t>
            </a:r>
          </a:p>
        </p:txBody>
      </p:sp>
      <p:sp>
        <p:nvSpPr>
          <p:cNvPr id="3" name="Diamond 2"/>
          <p:cNvSpPr/>
          <p:nvPr/>
        </p:nvSpPr>
        <p:spPr>
          <a:xfrm>
            <a:off x="713232" y="1371600"/>
            <a:ext cx="118872" cy="118872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874519"/>
            <a:ext cx="566928" cy="5669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C9A667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847087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1C1C"/>
                </a:solidFill>
                <a:latin typeface="Cambria"/>
              </a:rPr>
              <a:t>Atlanta-Based Since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4027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Trusted for luxury photo booth and event experiences across the metro area.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926079"/>
            <a:ext cx="566928" cy="5669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C9A667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98647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1C1C"/>
                </a:solidFill>
                <a:latin typeface="Cambria"/>
              </a:rPr>
              <a:t>Six Distinct Experience 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9183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From vintage-styled photo booths to full custom LED video walls.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77639"/>
            <a:ext cx="566928" cy="5669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C9A667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950207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1C1C"/>
                </a:solidFill>
                <a:latin typeface="Cambria"/>
              </a:rPr>
              <a:t>Weddings, Galas &amp; Corporate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34339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Hundreds of celebrations produced for clients who expect it done right.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029199"/>
            <a:ext cx="566928" cy="5669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C9A667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001767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1C1C"/>
                </a:solidFill>
                <a:latin typeface="Cambria"/>
              </a:rPr>
              <a:t>Full-Service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39495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Professional setup, on-site staffing, and breakdown — handled end to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C1C1C"/>
                </a:solidFill>
                <a:latin typeface="Cambria"/>
              </a:rPr>
              <a:t>What We Offer</a:t>
            </a:r>
          </a:p>
        </p:txBody>
      </p:sp>
      <p:sp>
        <p:nvSpPr>
          <p:cNvPr id="3" name="Diamond 2"/>
          <p:cNvSpPr/>
          <p:nvPr/>
        </p:nvSpPr>
        <p:spPr>
          <a:xfrm>
            <a:off x="713232" y="1261872"/>
            <a:ext cx="118872" cy="118872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423818" cy="169164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941832" y="1856232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167128"/>
            <a:ext cx="29117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Cambria"/>
              </a:rPr>
              <a:t>Vintage Photo Booth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560320"/>
            <a:ext cx="29117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Classic styled photo booth with unlimited 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938" y="1600200"/>
            <a:ext cx="3423818" cy="169164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4639970" y="1856232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9970" y="2167128"/>
            <a:ext cx="29117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Cambria"/>
              </a:rPr>
              <a:t>Classic Photo Booth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9970" y="2560320"/>
            <a:ext cx="29117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All-day drop-off rental — no attendant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1600200"/>
            <a:ext cx="3423818" cy="169164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8338108" y="1856232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8108" y="2167128"/>
            <a:ext cx="29117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Cambria"/>
              </a:rPr>
              <a:t>British Phone Booth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8108" y="2560320"/>
            <a:ext cx="29117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A striking, conversation-starting installation.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423818" cy="169164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941832" y="3822192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133088"/>
            <a:ext cx="29117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Cambria"/>
              </a:rPr>
              <a:t>360 Video Booth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526280"/>
            <a:ext cx="29117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Cinematic slow-motion video guests share instantly.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3938" y="3566160"/>
            <a:ext cx="3423818" cy="169164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4639970" y="3822192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9970" y="4133088"/>
            <a:ext cx="29117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Cambria"/>
              </a:rPr>
              <a:t>Mirror Booth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9970" y="4526280"/>
            <a:ext cx="29117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Interactive touchscreen mirror — always a crowd favorite.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2076" y="3566160"/>
            <a:ext cx="3423818" cy="169164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8338108" y="3822192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8108" y="4133088"/>
            <a:ext cx="291175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1C1C"/>
                </a:solidFill>
                <a:latin typeface="Cambria"/>
              </a:rPr>
              <a:t>Video Wall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8108" y="4526280"/>
            <a:ext cx="29117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Custom branded LED display for any size space.</a:t>
            </a:r>
          </a:p>
        </p:txBody>
      </p:sp>
      <p:pic>
        <p:nvPicPr>
          <p:cNvPr id="28" name="Picture 27" descr="photo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10424160" y="5394960"/>
            <a:ext cx="395935" cy="11887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Built For Moments That Matter</a:t>
            </a:r>
          </a:p>
        </p:txBody>
      </p:sp>
      <p:sp>
        <p:nvSpPr>
          <p:cNvPr id="3" name="Diamond 2"/>
          <p:cNvSpPr/>
          <p:nvPr/>
        </p:nvSpPr>
        <p:spPr>
          <a:xfrm>
            <a:off x="713232" y="1417320"/>
            <a:ext cx="118872" cy="118872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393338" cy="914400"/>
          </a:xfrm>
          <a:prstGeom prst="roundRect">
            <a:avLst/>
          </a:prstGeom>
          <a:noFill/>
          <a:ln w="15875">
            <a:solidFill>
              <a:srgbClr val="C9A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339333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Holiday Parties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9178" y="1965960"/>
            <a:ext cx="3393338" cy="914400"/>
          </a:xfrm>
          <a:prstGeom prst="roundRect">
            <a:avLst/>
          </a:prstGeom>
          <a:noFill/>
          <a:ln w="15875">
            <a:solidFill>
              <a:srgbClr val="C9A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99178" y="1965960"/>
            <a:ext cx="339333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Award Ceremonies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556" y="1965960"/>
            <a:ext cx="3393338" cy="914400"/>
          </a:xfrm>
          <a:prstGeom prst="roundRect">
            <a:avLst/>
          </a:prstGeom>
          <a:noFill/>
          <a:ln w="15875">
            <a:solidFill>
              <a:srgbClr val="C9A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2556" y="1965960"/>
            <a:ext cx="339333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Product Launches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91840"/>
            <a:ext cx="3393338" cy="914400"/>
          </a:xfrm>
          <a:prstGeom prst="roundRect">
            <a:avLst/>
          </a:prstGeom>
          <a:noFill/>
          <a:ln w="15875">
            <a:solidFill>
              <a:srgbClr val="C9A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39333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Client Appreciation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3291840"/>
            <a:ext cx="3393338" cy="914400"/>
          </a:xfrm>
          <a:prstGeom prst="roundRect">
            <a:avLst/>
          </a:prstGeom>
          <a:noFill/>
          <a:ln w="15875">
            <a:solidFill>
              <a:srgbClr val="C9A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9178" y="3291840"/>
            <a:ext cx="339333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Company Milestones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3291840"/>
            <a:ext cx="3393338" cy="914400"/>
          </a:xfrm>
          <a:prstGeom prst="roundRect">
            <a:avLst/>
          </a:prstGeom>
          <a:noFill/>
          <a:ln w="15875">
            <a:solidFill>
              <a:srgbClr val="C9A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2556" y="3291840"/>
            <a:ext cx="339333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Galas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6004407" y="1371600"/>
            <a:ext cx="182880" cy="182880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99943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Introducing the Black Tie Booth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400" b="1" i="0">
                <a:solidFill>
                  <a:srgbClr val="C9A667"/>
                </a:solidFill>
                <a:latin typeface="Cambria"/>
              </a:rPr>
              <a:t>Corporate Membership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03320"/>
            <a:ext cx="85313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700" b="0" i="0">
                <a:solidFill>
                  <a:srgbClr val="D8D8D8"/>
                </a:solidFill>
                <a:latin typeface="Calibri"/>
              </a:rPr>
              <a:t>Lock in Black Tie Booth for the year — without re-negotiating every </a:t>
            </a:r>
            <a:r>
              <a:rPr sz="1700" b="0" i="0">
                <a:solidFill>
                  <a:srgbClr val="D8D8D8"/>
                </a:solidFill>
                <a:latin typeface="Calibri"/>
              </a:rPr>
              <a:t>event. One predictable cost. Priority scheduling. One point of contact </a:t>
            </a:r>
            <a:r>
              <a:rPr sz="1700" b="0" i="0">
                <a:solidFill>
                  <a:srgbClr val="D8D8D8"/>
                </a:solidFill>
                <a:latin typeface="Calibri"/>
              </a:rPr>
              <a:t>who already knows how you like your events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C1C1C"/>
                </a:solidFill>
                <a:latin typeface="Cambria"/>
              </a:rPr>
              <a:t>Membership Tiers</a:t>
            </a:r>
          </a:p>
        </p:txBody>
      </p:sp>
      <p:sp>
        <p:nvSpPr>
          <p:cNvPr id="3" name="Diamond 2"/>
          <p:cNvSpPr/>
          <p:nvPr/>
        </p:nvSpPr>
        <p:spPr>
          <a:xfrm>
            <a:off x="713232" y="1143000"/>
            <a:ext cx="118872" cy="118872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181447" cy="416052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4499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874E"/>
                </a:solidFill>
                <a:latin typeface="Calibri"/>
              </a:rP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67128"/>
            <a:ext cx="4449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1C1C1C"/>
                </a:solidFill>
                <a:latin typeface="Cambria"/>
              </a:rPr>
              <a:t>$199</a:t>
            </a:r>
            <a:r>
              <a:rPr sz="1800" b="0" i="0">
                <a:solidFill>
                  <a:srgbClr val="595959"/>
                </a:solidFill>
                <a:latin typeface="Calibri"/>
              </a:rPr>
              <a:t>  /mo</a:t>
            </a:r>
          </a:p>
        </p:txBody>
      </p:sp>
      <p:sp>
        <p:nvSpPr>
          <p:cNvPr id="7" name="Diamond 6"/>
          <p:cNvSpPr/>
          <p:nvPr/>
        </p:nvSpPr>
        <p:spPr>
          <a:xfrm>
            <a:off x="1069848" y="3200400"/>
            <a:ext cx="82296" cy="82296"/>
          </a:xfrm>
          <a:prstGeom prst="diamond">
            <a:avLst/>
          </a:prstGeom>
          <a:solidFill>
            <a:srgbClr val="A8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3108960"/>
            <a:ext cx="4175607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One experience activation included per quarter (4 per year)</a:t>
            </a:r>
          </a:p>
        </p:txBody>
      </p:sp>
      <p:sp>
        <p:nvSpPr>
          <p:cNvPr id="9" name="Diamond 8"/>
          <p:cNvSpPr/>
          <p:nvPr/>
        </p:nvSpPr>
        <p:spPr>
          <a:xfrm>
            <a:off x="1069848" y="3761232"/>
            <a:ext cx="82296" cy="82296"/>
          </a:xfrm>
          <a:prstGeom prst="diamond">
            <a:avLst/>
          </a:prstGeom>
          <a:solidFill>
            <a:srgbClr val="A8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3669792"/>
            <a:ext cx="4175607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Choice of any single experience</a:t>
            </a:r>
          </a:p>
        </p:txBody>
      </p:sp>
      <p:sp>
        <p:nvSpPr>
          <p:cNvPr id="11" name="Diamond 10"/>
          <p:cNvSpPr/>
          <p:nvPr/>
        </p:nvSpPr>
        <p:spPr>
          <a:xfrm>
            <a:off x="1069848" y="4123944"/>
            <a:ext cx="82296" cy="82296"/>
          </a:xfrm>
          <a:prstGeom prst="diamond">
            <a:avLst/>
          </a:prstGeom>
          <a:solidFill>
            <a:srgbClr val="A8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4032504"/>
            <a:ext cx="4175607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Priority scheduling on your preferred 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508760"/>
            <a:ext cx="5181447" cy="4160520"/>
          </a:xfrm>
          <a:prstGeom prst="round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0207" y="1828800"/>
            <a:ext cx="44499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874E"/>
                </a:solidFill>
                <a:latin typeface="Calibri"/>
              </a:rP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0207" y="2167128"/>
            <a:ext cx="4449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1C1C1C"/>
                </a:solidFill>
                <a:latin typeface="Cambria"/>
              </a:rPr>
              <a:t>$275</a:t>
            </a:r>
            <a:r>
              <a:rPr sz="1800" b="0" i="0">
                <a:solidFill>
                  <a:srgbClr val="595959"/>
                </a:solidFill>
                <a:latin typeface="Calibri"/>
              </a:rPr>
              <a:t>  /mo</a:t>
            </a:r>
          </a:p>
        </p:txBody>
      </p:sp>
      <p:sp>
        <p:nvSpPr>
          <p:cNvPr id="16" name="Diamond 15"/>
          <p:cNvSpPr/>
          <p:nvPr/>
        </p:nvSpPr>
        <p:spPr>
          <a:xfrm>
            <a:off x="6708495" y="3200400"/>
            <a:ext cx="82296" cy="82296"/>
          </a:xfrm>
          <a:prstGeom prst="diamond">
            <a:avLst/>
          </a:prstGeom>
          <a:solidFill>
            <a:srgbClr val="A8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6239" y="3108960"/>
            <a:ext cx="4175607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One combined multi-experience event per year — up to 3 experiences, one date (e.g. Mirror Booth + Video Wall + 360 Video Booth together)</a:t>
            </a:r>
          </a:p>
        </p:txBody>
      </p:sp>
      <p:sp>
        <p:nvSpPr>
          <p:cNvPr id="18" name="Diamond 17"/>
          <p:cNvSpPr/>
          <p:nvPr/>
        </p:nvSpPr>
        <p:spPr>
          <a:xfrm>
            <a:off x="6708495" y="4157472"/>
            <a:ext cx="82296" cy="82296"/>
          </a:xfrm>
          <a:prstGeom prst="diamond">
            <a:avLst/>
          </a:prstGeom>
          <a:solidFill>
            <a:srgbClr val="A8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6239" y="4066032"/>
            <a:ext cx="41756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Additional build-outs available at a member discount off standard corporate pricing</a:t>
            </a:r>
          </a:p>
        </p:txBody>
      </p:sp>
      <p:sp>
        <p:nvSpPr>
          <p:cNvPr id="20" name="Diamond 19"/>
          <p:cNvSpPr/>
          <p:nvPr/>
        </p:nvSpPr>
        <p:spPr>
          <a:xfrm>
            <a:off x="6708495" y="4916424"/>
            <a:ext cx="82296" cy="82296"/>
          </a:xfrm>
          <a:prstGeom prst="diamond">
            <a:avLst/>
          </a:prstGeom>
          <a:solidFill>
            <a:srgbClr val="A88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6239" y="4824984"/>
            <a:ext cx="4175607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Priority scheduling + dedicated account 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8932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1">
                <a:solidFill>
                  <a:srgbClr val="8A8A8A"/>
                </a:solidFill>
                <a:latin typeface="Calibri"/>
              </a:rPr>
              <a:t>Membership pricing is a 12-month commitment billed monthly — this keeps your rate locked while letting us guarantee your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C1C1C"/>
                </a:solidFill>
                <a:latin typeface="Cambria"/>
              </a:rPr>
              <a:t>Why a Membership</a:t>
            </a:r>
          </a:p>
        </p:txBody>
      </p:sp>
      <p:sp>
        <p:nvSpPr>
          <p:cNvPr id="3" name="Diamond 2"/>
          <p:cNvSpPr/>
          <p:nvPr/>
        </p:nvSpPr>
        <p:spPr>
          <a:xfrm>
            <a:off x="713232" y="1325880"/>
            <a:ext cx="118872" cy="118872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2103120"/>
            <a:ext cx="640080" cy="640080"/>
          </a:xfrm>
          <a:prstGeom prst="ellipse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C1C1C"/>
                </a:solidFill>
                <a:latin typeface="Cambria"/>
              </a:rPr>
              <a:t>Predictable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330189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Lock your rate for the year instead of re-quoting every event.</a:t>
            </a:r>
          </a:p>
        </p:txBody>
      </p:sp>
      <p:sp>
        <p:nvSpPr>
          <p:cNvPr id="7" name="Oval 6"/>
          <p:cNvSpPr/>
          <p:nvPr/>
        </p:nvSpPr>
        <p:spPr>
          <a:xfrm>
            <a:off x="4444898" y="2103120"/>
            <a:ext cx="640080" cy="640080"/>
          </a:xfrm>
          <a:prstGeom prst="ellipse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297180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C1C1C"/>
                </a:solidFill>
                <a:latin typeface="Cambria"/>
              </a:rPr>
              <a:t>Guaranteed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3520440"/>
            <a:ext cx="330189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Priority access to popular dates before they sell out.</a:t>
            </a:r>
          </a:p>
        </p:txBody>
      </p:sp>
      <p:sp>
        <p:nvSpPr>
          <p:cNvPr id="10" name="Oval 9"/>
          <p:cNvSpPr/>
          <p:nvPr/>
        </p:nvSpPr>
        <p:spPr>
          <a:xfrm>
            <a:off x="8203996" y="2103120"/>
            <a:ext cx="640080" cy="640080"/>
          </a:xfrm>
          <a:prstGeom prst="ellipse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3996" y="297180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C1C1C"/>
                </a:solidFill>
                <a:latin typeface="Cambria"/>
              </a:rPr>
              <a:t>One Relationship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3996" y="3520440"/>
            <a:ext cx="330189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A dedicated contact who already knows your events, every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rrorbooth_pa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335" y="0"/>
            <a:ext cx="4023360" cy="685800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685800" y="640080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C1C1C"/>
                </a:solidFill>
                <a:latin typeface="Cambria"/>
              </a:rPr>
              <a:t>What's Included</a:t>
            </a:r>
          </a:p>
        </p:txBody>
      </p:sp>
      <p:sp>
        <p:nvSpPr>
          <p:cNvPr id="4" name="Diamond 3"/>
          <p:cNvSpPr/>
          <p:nvPr/>
        </p:nvSpPr>
        <p:spPr>
          <a:xfrm>
            <a:off x="713232" y="1371600"/>
            <a:ext cx="118872" cy="118872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9A667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1051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Professional setup &amp; breakdown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87168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9A667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On-site staffing where applicable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45536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9A667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2724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Custom branding options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03904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9A667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85616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Digital gallery delivery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462272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9A667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4398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Dedicated account contact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20640"/>
            <a:ext cx="329184" cy="32918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C9A667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0235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1C1C"/>
                </a:solidFill>
                <a:latin typeface="Calibri"/>
              </a:rPr>
              <a:t>Priority date scheduling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01487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tb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935" y="795528"/>
            <a:ext cx="877824" cy="877824"/>
          </a:xfrm>
          <a:prstGeom prst="rect">
            <a:avLst/>
          </a:prstGeom>
        </p:spPr>
      </p:pic>
      <p:sp>
        <p:nvSpPr>
          <p:cNvPr id="4" name="Diamond 3"/>
          <p:cNvSpPr/>
          <p:nvPr/>
        </p:nvSpPr>
        <p:spPr>
          <a:xfrm>
            <a:off x="6022695" y="2148840"/>
            <a:ext cx="146304" cy="146304"/>
          </a:xfrm>
          <a:prstGeom prst="diamond">
            <a:avLst/>
          </a:prstGeom>
          <a:solidFill>
            <a:srgbClr val="C9A6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994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Let's Make Your Next Event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the One Everyone Talks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160520"/>
            <a:ext cx="81655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1">
                <a:solidFill>
                  <a:srgbClr val="D8D8D8"/>
                </a:solidFill>
                <a:latin typeface="Calibri"/>
              </a:rPr>
              <a:t>Reply for a custom quote, or grab 10 minutes on our calendar.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5216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9A667"/>
                </a:solidFill>
                <a:latin typeface="Calibri"/>
              </a:rPr>
              <a:t>[phone number]  ·  blacktiebooth.com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